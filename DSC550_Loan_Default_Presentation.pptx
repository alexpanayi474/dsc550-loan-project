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01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52647" y="2377440"/>
            <a:ext cx="5486400" cy="381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Cyprus Community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E86AB"/>
                </a:solidFill>
                <a:latin typeface="Calibri"/>
              </a:defRPr>
            </a:pPr>
            <a:r>
              <a:t>Loan Default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267047" y="2468880"/>
            <a:ext cx="3657600" cy="381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B8D"/>
                </a:solidFill>
                <a:latin typeface="Calibri"/>
              </a:defRPr>
            </a:pPr>
            <a:r>
              <a:t>DSC 550 — Group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Alexandros Panayi  ·  Maria Michaelidou  ·  Thanasis Kalos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047" y="1005840"/>
            <a:ext cx="10515600" cy="381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40080" cy="4572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3441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  <a:latin typeface="Calibri"/>
              </a:defRPr>
            </a:pPr>
            <a:r>
              <a:t>Predicting loan defaults for a Cyprus community bank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640080" cy="4572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9280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Exploratory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9202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  <a:latin typeface="Calibri"/>
              </a:defRPr>
            </a:pPr>
            <a:r>
              <a:t>Understanding the data landscape &amp; class imbalance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640080" cy="4572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4414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Model Training &amp;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4688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  <a:latin typeface="Calibri"/>
              </a:defRPr>
            </a:pPr>
            <a:r>
              <a:t>7 classifiers, SMOTE vs. unbalanced comparison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640080" cy="4572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9900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Model Selection &amp; Calibration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0175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  <a:latin typeface="Calibri"/>
              </a:defRPr>
            </a:pPr>
            <a:r>
              <a:t>Choosing the best model for threshold optimization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640080" cy="4572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5387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Stakeholder Cost Structures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5661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  <a:latin typeface="Calibri"/>
              </a:defRPr>
            </a:pPr>
            <a:r>
              <a:t>Three executives, three different cost functions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14800"/>
            <a:ext cx="640080" cy="4572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873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Threshold Optimization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114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  <a:latin typeface="Calibri"/>
              </a:defRPr>
            </a:pPr>
            <a:r>
              <a:t>From probabilities to business-optimal decisions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663440"/>
            <a:ext cx="640080" cy="4572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636007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Stakeholder Tradeoff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663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  <a:latin typeface="Calibri"/>
              </a:defRPr>
            </a:pPr>
            <a:r>
              <a:t>The 3×3 payoff matrix: who wins, who loses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212079"/>
            <a:ext cx="640080" cy="4572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184647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CEO Decision Framework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521207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  <a:latin typeface="Calibri"/>
              </a:defRPr>
            </a:pPr>
            <a:r>
              <a:t>A range of defensible options — not one answer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760719"/>
            <a:ext cx="640080" cy="4572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733287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Post-Deployment Monitoring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76071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  <a:latin typeface="Calibri"/>
              </a:defRPr>
            </a:pPr>
            <a:r>
              <a:t>Keeping the model and thresholds current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E86AB"/>
                </a:solidFill>
                <a:latin typeface="Calibri"/>
              </a:defRPr>
            </a:pPr>
            <a:r>
              <a:t>01  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047" y="1005840"/>
            <a:ext cx="10515600" cy="381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Cyprus Community Bank needs a data-driven system to decide which loan applications to approve or reject.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 single wrong approval of a defaulting borrower can cost up to €45,000 in losses.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 single wrong rejection of a good borrower sacrifices up to €10,000 in lost growth revenue.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Three senior executives — CFO, CRO, CGO — each define "optimal" differently: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 CFO (Maria Georgiou): Maximize profit — willing to accept moderate risk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 CRO (Andreas Konstantinou): Minimize risk exposure — nearly zero tolerance for defaults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 CGO (Elena Papadopoulou): Maximize growth — approves unless near-certain default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Our task: Build a predictive model and find the optimal decision threshold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for each stakeholder — then present the CEO with a range of defensible options.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E86AB"/>
                </a:solidFill>
                <a:latin typeface="Calibri"/>
              </a:defRPr>
            </a:pPr>
            <a:r>
              <a:t>02  Exploratory Data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047" y="1005840"/>
            <a:ext cx="10515600" cy="381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Severe Class Imbalance: ~3.1% Default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rPr dirty="0"/>
              <a:t>Only ~310 out of 10,000 loans default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rPr dirty="0"/>
              <a:t>A naive "approve all" baseline achieves 96.9% accuracy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rPr dirty="0"/>
              <a:t>→ Accuracy is a misleading metric here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rPr dirty="0"/>
              <a:t>We must focus on AUC, Recall, and cost-sensitive metrics</a:t>
            </a:r>
          </a:p>
        </p:txBody>
      </p:sp>
      <p:pic>
        <p:nvPicPr>
          <p:cNvPr id="6" name="Picture 5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303520" cy="20052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E86AB"/>
                </a:solidFill>
                <a:latin typeface="Calibri"/>
              </a:defRPr>
            </a:pPr>
            <a:r>
              <a:t>02  Feature Distributions by Default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047" y="1005840"/>
            <a:ext cx="10515600" cy="381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eature_distributions_continu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E86AB"/>
                </a:solidFill>
                <a:latin typeface="Calibri"/>
              </a:defRPr>
            </a:pPr>
            <a:r>
              <a:t>02  Discrete Feature Distributions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047" y="1005840"/>
            <a:ext cx="10515600" cy="381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eature_distributions_discr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E86AB"/>
                </a:solidFill>
                <a:latin typeface="Calibri"/>
              </a:defRPr>
            </a:pPr>
            <a:r>
              <a:t>02  Key Predictors of Default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047" y="1005840"/>
            <a:ext cx="10515600" cy="381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486400" cy="4114800"/>
          </a:xfrm>
          <a:prstGeom prst="rect">
            <a:avLst/>
          </a:prstGeom>
        </p:spPr>
      </p:pic>
      <p:pic>
        <p:nvPicPr>
          <p:cNvPr id="5" name="Picture 4" descr="default_by_purpo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188720"/>
            <a:ext cx="566928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49377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Strongest predictors: previous_defaults (+), debt_to_income (+)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Protective: credit_score (−), age (−), income (−)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Highest risk: debt_consolidation (4.2%), business (3.8%)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E86AB"/>
                </a:solidFill>
                <a:latin typeface="Calibri"/>
              </a:defRPr>
            </a:pPr>
            <a:r>
              <a:t>02  EDA —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047" y="1005840"/>
            <a:ext cx="10515600" cy="381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1. Severe Imbalance (~3.1% defaults) — naive baseline = 96.9% accuracy → misleading</a:t>
            </a:r>
          </a:p>
          <a:p>
            <a:pPr>
              <a:spcAft>
                <a:spcPts val="3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2. Continuous Features: Defaulters tend to be younger, lower income, lower credit score,</a:t>
            </a:r>
          </a:p>
          <a:p>
            <a:pPr>
              <a:spcAft>
                <a:spcPts val="3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 fewer years employed — indicating financially unstable profiles</a:t>
            </a:r>
          </a:p>
          <a:p>
            <a:pPr>
              <a:spcAft>
                <a:spcPts val="3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3. Discrete Features: previous_defaults is the single strongest signal;</a:t>
            </a:r>
          </a:p>
          <a:p>
            <a:pPr>
              <a:spcAft>
                <a:spcPts val="3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 more existing loans and longer loan terms also increase risk</a:t>
            </a:r>
          </a:p>
          <a:p>
            <a:pPr>
              <a:spcAft>
                <a:spcPts val="3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4. Correlation: previous_defaults and debt_to_income_ratio are the two strongest</a:t>
            </a:r>
          </a:p>
          <a:p>
            <a:pPr>
              <a:spcAft>
                <a:spcPts val="3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 positive predictors; credit_score is the strongest protective factor</a:t>
            </a:r>
          </a:p>
          <a:p>
            <a:pPr>
              <a:spcAft>
                <a:spcPts val="3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5. Loan Purpose: debt_consolidation (4.2%) and business (3.8%) carry the most risk;</a:t>
            </a:r>
          </a:p>
          <a:p>
            <a:pPr>
              <a:spcAft>
                <a:spcPts val="3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 home_improvement (1.9%) is safest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E86AB"/>
                </a:solidFill>
                <a:latin typeface="Calibri"/>
              </a:defRPr>
            </a:pPr>
            <a:r>
              <a:t>03  Model Training &amp;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047" y="1005840"/>
            <a:ext cx="10515600" cy="381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B8D"/>
                </a:solidFill>
                <a:latin typeface="Calibri"/>
              </a:defRPr>
            </a:pPr>
            <a:r>
              <a:t>7 classifiers trained on SMOTE-balanced data, evaluated on held-out test set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AUC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0.7880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0.0923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0.6613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0.1621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0.8161</a:t>
                      </a:r>
                    </a:p>
                  </a:txBody>
                  <a:tcPr>
                    <a:solidFill>
                      <a:srgbClr val="2D93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LDA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0.7800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0.0891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0.6613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0.1571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0.8143</a:t>
                      </a:r>
                    </a:p>
                  </a:txBody>
                  <a:tcPr>
                    <a:solidFill>
                      <a:srgbClr val="2D93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0.9570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0.2273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0.1613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0.1887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0.7610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0.9620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0.2308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0.0968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0.1364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0.7415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Naive Bayes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0.6735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0.0583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0.6290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0.1067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0.7337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KNN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0.8275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0.0673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0.3548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0.1131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0.6360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0.9295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0.1376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0.2419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0.1754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0.5967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936C"/>
                </a:solidFill>
                <a:latin typeface="Calibri"/>
              </a:defRPr>
            </a:pPr>
            <a:r>
              <a:t>→ Top 2 by AUC: Logistic Regression (0.816) and LDA (0.814) — selected for tuning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86AB"/>
                </a:solidFill>
                <a:latin typeface="Calibri"/>
              </a:defRPr>
            </a:pPr>
            <a:r>
              <a:t>04  SMOTE vs. Unbalanced — Why Calibration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047" y="1005840"/>
            <a:ext cx="10515600" cy="381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alibr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40080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18872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SMOTE inflates predicted probabilities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→ shifts optimal F1 threshold from 0.13 to 0.86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Unbalanced model keeps calibrated probs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→ P(default) = 10% genuinely means 10% risk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Since we optimize by sweeping thresholds,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we DON'T need SMOTE to boost recall at 0.5</a:t>
            </a:r>
          </a:p>
        </p:txBody>
      </p:sp>
      <p:pic>
        <p:nvPicPr>
          <p:cNvPr id="6" name="Picture 5" descr="f1_vs_threshold_balanced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114800"/>
            <a:ext cx="640080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45720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AUC comparison: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LR: Unbalanced 0.823 vs SMOTE 0.816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LDA: Unbalanced 0.810 vs SMOTE 0.814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→ Proceed with UNBALANCED training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86AB"/>
                </a:solidFill>
                <a:latin typeface="Calibri"/>
              </a:defRPr>
            </a:pPr>
            <a:r>
              <a:t>04  Model Selection &amp; Hyperparameter Tuning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047" y="1005840"/>
            <a:ext cx="10515600" cy="381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Why AUC-ROC as the selection metric?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AUC measures ranking ability across ALL thresholds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We need a model that separates defaults from non-defaults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well regardless of which cutoff each stakeholder picks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Unlike accuracy/F1, AUC is threshold-agnostic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— perfect for our multi-stakeholder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Tuning Results (5-fold Stratified CV, scored by AUC)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4389120"/>
          <a:ext cx="10058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Params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CV AUC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AUC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 = 1, penalty = L2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0.8369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0.8227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LDA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shrinkage = auto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0.8303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0.8104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936C"/>
                </a:solidFill>
                <a:latin typeface="Calibri"/>
              </a:defRPr>
            </a:pPr>
            <a:r>
              <a:t>→ Final model: Tuned Logistic Regression (AUC = 0.823) — trained on unbalanced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E86AB"/>
                </a:solidFill>
                <a:latin typeface="Calibri"/>
              </a:defRPr>
            </a:pPr>
            <a:r>
              <a:t>04  ROC Curves — All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047" y="1005840"/>
            <a:ext cx="10515600" cy="381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oc_all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E86AB"/>
                </a:solidFill>
                <a:latin typeface="Calibri"/>
              </a:defRPr>
            </a:pPr>
            <a:r>
              <a:t>04  Why Logistic Regression?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047" y="1005840"/>
            <a:ext cx="10515600" cy="381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3200400"/>
          </a:xfrm>
          <a:prstGeom prst="roundRect">
            <a:avLst/>
          </a:prstGeom>
          <a:solidFill>
            <a:srgbClr val="24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936C"/>
                </a:solidFill>
                <a:latin typeface="Calibri"/>
              </a:defRPr>
            </a:pPr>
            <a:r>
              <a:t>Highest AUC (0.823)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Best ability to separate defaults</a:t>
            </a:r>
            <a:br/>
            <a:r>
              <a:t>from non-defaults across all</a:t>
            </a:r>
            <a:br/>
            <a:r>
              <a:t>possible thresholds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371600"/>
            <a:ext cx="3383280" cy="3200400"/>
          </a:xfrm>
          <a:prstGeom prst="roundRect">
            <a:avLst/>
          </a:prstGeom>
          <a:solidFill>
            <a:srgbClr val="24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15544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A7CBD"/>
                </a:solidFill>
                <a:latin typeface="Calibri"/>
              </a:defRPr>
            </a:pPr>
            <a:r>
              <a:t>Calibrated Probabilities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28600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Predicted P(default) = 10%</a:t>
            </a:r>
            <a:br/>
            <a:r>
              <a:t>genuinely means ~10% real risk</a:t>
            </a:r>
            <a:br/>
            <a:r>
              <a:t>→ thresholds are interpretable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71600"/>
            <a:ext cx="3383280" cy="3200400"/>
          </a:xfrm>
          <a:prstGeom prst="roundRect">
            <a:avLst/>
          </a:prstGeom>
          <a:solidFill>
            <a:srgbClr val="24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0" y="15544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01E"/>
                </a:solidFill>
                <a:latin typeface="Calibri"/>
              </a:defRPr>
            </a:pPr>
            <a:r>
              <a:t>Full Transparency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28600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Odds ratios explain exactly</a:t>
            </a:r>
            <a:br/>
            <a:r>
              <a:t>why each loan is approved/rejected</a:t>
            </a:r>
            <a:br/>
            <a:r>
              <a:t>→ regulatory compliance advantage</a:t>
            </a:r>
          </a:p>
        </p:txBody>
      </p:sp>
      <p:pic>
        <p:nvPicPr>
          <p:cNvPr id="13" name="Picture 12" descr="roc_operating_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754880"/>
            <a:ext cx="4114800" cy="2011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43600" y="48463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6B7B8D"/>
                </a:solidFill>
                <a:latin typeface="Calibri"/>
              </a:defRPr>
            </a:pPr>
            <a:r>
              <a:t>Unlike black-box models (Random Forest, GBM),</a:t>
            </a:r>
          </a:p>
          <a:p>
            <a:pPr>
              <a:spcAft>
                <a:spcPts val="300"/>
              </a:spcAft>
              <a:defRPr sz="1500">
                <a:solidFill>
                  <a:srgbClr val="6B7B8D"/>
                </a:solidFill>
                <a:latin typeface="Calibri"/>
              </a:defRPr>
            </a:pPr>
            <a:r>
              <a:t>Logistic Regression lets us explain every decision</a:t>
            </a:r>
          </a:p>
          <a:p>
            <a:pPr>
              <a:spcAft>
                <a:spcPts val="300"/>
              </a:spcAft>
              <a:defRPr sz="1500">
                <a:solidFill>
                  <a:srgbClr val="6B7B8D"/>
                </a:solidFill>
                <a:latin typeface="Calibri"/>
              </a:defRPr>
            </a:pPr>
            <a:r>
              <a:t>to regulators, customers, and the CEO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E86AB"/>
                </a:solidFill>
                <a:latin typeface="Calibri"/>
              </a:defRPr>
            </a:pPr>
            <a:r>
              <a:t>05  Stakeholder Cost Structures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047" y="1005840"/>
            <a:ext cx="10515600" cy="381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B7B8D"/>
                </a:solidFill>
                <a:latin typeface="Calibri"/>
              </a:defRPr>
            </a:pPr>
            <a:r>
              <a:t>Each executive values loan outcomes differently — this drives their preferred threshold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3566160" cy="4389120"/>
          </a:xfrm>
          <a:prstGeom prst="roundRect">
            <a:avLst/>
          </a:prstGeom>
          <a:solidFill>
            <a:srgbClr val="24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936C"/>
                </a:solidFill>
                <a:latin typeface="Calibri"/>
              </a:defRPr>
            </a:pPr>
            <a:r>
              <a:t>CFO — Maria Georgiou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Maximize Profit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4320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Approving a good loan: +€2,400</a:t>
            </a:r>
            <a:br/>
            <a:r>
              <a:t>Approving a default: −€15,000</a:t>
            </a:r>
            <a:br/>
            <a:r>
              <a:t>Rejecting a good loan: €0</a:t>
            </a:r>
            <a:br/>
            <a:r>
              <a:t>Rejecting a default: €0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3017520" cy="1097280"/>
          </a:xfrm>
          <a:prstGeom prst="roundRect">
            <a:avLst/>
          </a:prstGeom>
          <a:solidFill>
            <a:srgbClr val="2D9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Break-even: 13.8%</a:t>
            </a:r>
            <a:br/>
            <a:r>
              <a:t>→ Reject only if &gt;13.8% default 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737360"/>
            <a:ext cx="3566160" cy="4389120"/>
          </a:xfrm>
          <a:prstGeom prst="roundRect">
            <a:avLst/>
          </a:prstGeom>
          <a:solidFill>
            <a:srgbClr val="24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04F5F"/>
                </a:solidFill>
                <a:latin typeface="Calibri"/>
              </a:defRPr>
            </a:pPr>
            <a:r>
              <a:t>CRO — Andreas Konstantinou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Minimize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74320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Approving a good loan: €0</a:t>
            </a:r>
            <a:br/>
            <a:r>
              <a:t>Approving a default: −€45,000</a:t>
            </a:r>
            <a:br/>
            <a:r>
              <a:t>Rejecting a good loan: −€500</a:t>
            </a:r>
            <a:br/>
            <a:r>
              <a:t>Rejecting a default: €0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4754880"/>
            <a:ext cx="3017520" cy="1097280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Break-even: 1.1%</a:t>
            </a:r>
            <a:br/>
            <a:r>
              <a:t>→ Reject if &gt;1.1% default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737360"/>
            <a:ext cx="3566160" cy="4389120"/>
          </a:xfrm>
          <a:prstGeom prst="roundRect">
            <a:avLst/>
          </a:prstGeom>
          <a:solidFill>
            <a:srgbClr val="24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7CBD"/>
                </a:solidFill>
                <a:latin typeface="Calibri"/>
              </a:defRPr>
            </a:pPr>
            <a:r>
              <a:t>CGO — Elena Papadopoulou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Maximize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74320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Approving a good loan: +€8,000</a:t>
            </a:r>
            <a:br/>
            <a:r>
              <a:t>Approving a default: −€12,000</a:t>
            </a:r>
            <a:br/>
            <a:r>
              <a:t>Rejecting a good loan: −€10,000</a:t>
            </a:r>
            <a:br/>
            <a:r>
              <a:t>Rejecting a default: €0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4754880"/>
            <a:ext cx="3017520" cy="1097280"/>
          </a:xfrm>
          <a:prstGeom prst="round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Break-even: 60.0%</a:t>
            </a:r>
            <a:br/>
            <a:r>
              <a:t>→ Reject only if &gt;60% default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09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4A01E"/>
                </a:solidFill>
                <a:latin typeface="Calibri"/>
              </a:defRPr>
            </a:pPr>
            <a:r>
              <a:t>Ordering: CRO (1.1%) &lt; CFO (13.8%) &lt; CGO (60.0%) — from most conservative to most aggressive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86AB"/>
                </a:solidFill>
                <a:latin typeface="Calibri"/>
              </a:defRPr>
            </a:pPr>
            <a:r>
              <a:t>06  Threshold Optimization — Profit vs. Threshold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047" y="1005840"/>
            <a:ext cx="10515600" cy="381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rofit_vs_thres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77240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Optimal Thresholds: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CFO: t* = 0.14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→ €1,906,800 profit/1k apps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→ 95.4% approval rate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CRO: t* = 0.01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→ €−292,250 cost/1k apps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→ 47.6% approval rate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CGO: t* = 0.65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→ €7,380,000 growth/1k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→ 100% approval rate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86AB"/>
                </a:solidFill>
                <a:latin typeface="Calibri"/>
              </a:defRPr>
            </a:pPr>
            <a:r>
              <a:t>06  Stakeholder Operating Points on the ROC Curve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047" y="1005840"/>
            <a:ext cx="10515600" cy="381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oc_operating_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E86AB"/>
                </a:solidFill>
                <a:latin typeface="Calibri"/>
              </a:defRPr>
            </a:pPr>
            <a:r>
              <a:t>07  Stakeholder Tradeoff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047" y="1005840"/>
            <a:ext cx="10515600" cy="381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B7B8D"/>
                </a:solidFill>
                <a:latin typeface="Calibri"/>
              </a:defRPr>
            </a:pPr>
            <a:r>
              <a:t>If we adopt one executive's preferred threshold, what does each stakeholder gain or lose?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67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CFO €/1k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CRO €/1k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CGO €/1k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Approval %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Sensitivity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Specificity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CFO (t=0.14)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€1,906,800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−€1,008,500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€6,822,000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95.4%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0.290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0.962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CRO (t=0.01)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€1,123,800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−€292,250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−€1,161,000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47.6%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0.968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0.490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CGO (t=0.65)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€1,860,600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−€1,395,000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€7,380,000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01E"/>
                </a:solidFill>
                <a:latin typeface="Calibri"/>
              </a:defRPr>
            </a:pPr>
            <a:r>
              <a:t>Key Tradeoffs for the CEO: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CRO vs. CFO: Adopting the CRO's threshold costs the CFO €783,000/1k in profit,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  but reduces risk exposure by €716,250/1k. Approval rate drops from 95.4% → 47.6%.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CGO vs. CFO: Adopting the CGO's threshold gains €558,000/1k in growth value,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  but zero defaults are caught (sensitivity = 0%). Risk exposure worsens by €386,500/1k.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CGO vs. CRO (the extremes): Moving from CRO to CGO increases risk exposure by €1,102,750/1k.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E86AB"/>
                </a:solidFill>
                <a:latin typeface="Calibri"/>
              </a:defRPr>
            </a:pPr>
            <a:r>
              <a:t>08  CEO Decision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047" y="1005840"/>
            <a:ext cx="10515600" cy="381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There is no single "right" threshold. The CEO must choose within a range</a:t>
            </a:r>
            <a:br/>
            <a:r>
              <a:t>of defensible options based on the bank's strategic priorities.</a:t>
            </a:r>
          </a:p>
        </p:txBody>
      </p:sp>
      <p:pic>
        <p:nvPicPr>
          <p:cNvPr id="5" name="Picture 4" descr="ceo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1168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22860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The feasible range: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CRO extreme → t = 0.01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CFO optimum → t = 0.14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CGO extreme → t = 0.65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Gold zone: compromise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region between CRO &amp; CFO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where small profit sacrifices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yield large risk reductions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The threshold is NOT fixed —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it's a dynamic control lever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E86AB"/>
                </a:solidFill>
                <a:latin typeface="Calibri"/>
              </a:defRPr>
            </a:pPr>
            <a:r>
              <a:t>08  Finding the "Cheap Compromises"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047" y="1005840"/>
            <a:ext cx="10515600" cy="381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B8D"/>
                </a:solidFill>
                <a:latin typeface="Calibri"/>
              </a:defRPr>
            </a:pPr>
            <a:r>
              <a:t>Moving from the CFO's optimum (t=0.14) toward the CRO (t=0.01):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112471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67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Threshold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CFO €/1k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CRO €/1k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CGO €/1k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Approval %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CFO Cost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CRO Gain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0.138 (CFO)</a:t>
                      </a:r>
                    </a:p>
                  </a:txBody>
                  <a:tcPr>
                    <a:solidFill>
                      <a:srgbClr val="2D70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1,906,800</a:t>
                      </a:r>
                    </a:p>
                  </a:txBody>
                  <a:tcPr>
                    <a:solidFill>
                      <a:srgbClr val="2D70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−1,008,500</a:t>
                      </a:r>
                    </a:p>
                  </a:txBody>
                  <a:tcPr>
                    <a:solidFill>
                      <a:srgbClr val="2D70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6,822,000</a:t>
                      </a:r>
                    </a:p>
                  </a:txBody>
                  <a:tcPr>
                    <a:solidFill>
                      <a:srgbClr val="2D70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95.4%</a:t>
                      </a:r>
                    </a:p>
                  </a:txBody>
                  <a:tcPr>
                    <a:solidFill>
                      <a:srgbClr val="2D70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D70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D70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0.120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1,899,900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−989,000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6,720,000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94.8%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−€6,900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+€19,500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0.101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1,862,700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−996,750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6,441,000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93.2%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−€44,100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+€11,750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0.065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1,844,700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−749,250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5,703,000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88.1%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−€62,100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+€259,250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0.047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1,761,900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−682,750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4,881,000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83.2%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−€144,900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+€325,750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0.028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1,604,100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−506,250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3,195,000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73.0%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−€302,700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+€502,250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0.010 (CRO)</a:t>
                      </a:r>
                    </a:p>
                  </a:txBody>
                  <a:tcPr>
                    <a:solidFill>
                      <a:srgbClr val="8B3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1,123,800</a:t>
                      </a:r>
                    </a:p>
                  </a:txBody>
                  <a:tcPr>
                    <a:solidFill>
                      <a:srgbClr val="8B3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−292,250</a:t>
                      </a:r>
                    </a:p>
                  </a:txBody>
                  <a:tcPr>
                    <a:solidFill>
                      <a:srgbClr val="8B3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−1,161,000</a:t>
                      </a:r>
                    </a:p>
                  </a:txBody>
                  <a:tcPr>
                    <a:solidFill>
                      <a:srgbClr val="8B3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47.6%</a:t>
                      </a:r>
                    </a:p>
                  </a:txBody>
                  <a:tcPr>
                    <a:solidFill>
                      <a:srgbClr val="8B3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−€783,000</a:t>
                      </a:r>
                    </a:p>
                  </a:txBody>
                  <a:tcPr>
                    <a:solidFill>
                      <a:srgbClr val="8B3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+€716,250</a:t>
                      </a:r>
                    </a:p>
                  </a:txBody>
                  <a:tcPr>
                    <a:solidFill>
                      <a:srgbClr val="8B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01E"/>
                </a:solidFill>
                <a:latin typeface="Calibri"/>
              </a:defRPr>
            </a:pPr>
            <a:r>
              <a:t>Key Insight: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Moving from t=0.14 to t=0.12 costs CFO only €6,900 but gains €19,500 in risk reduction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→ This is a high-value, low-cost compromise the CEO should consider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The marginal cost of further tightening accelerates — diminishing returns below t ≈ 0.05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E86AB"/>
                </a:solidFill>
                <a:latin typeface="Calibri"/>
              </a:defRPr>
            </a:pPr>
            <a:r>
              <a:t>08  What Drives Default Risk — Model Interpretability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047" y="1005840"/>
            <a:ext cx="10515600" cy="381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odel_coeffic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30352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Top Risk Factors (increase default risk):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• avg_monthly_balance — strongest risk signal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• loan_term_months — longer terms = higher risk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• debt_to_income_ratio — moderate risk signal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Top Protective Factors (decrease default risk):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• credit_score — strongest protection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• home_improvement purpose — lower risk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• education purpose — lower risk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Why this matters for the CEO: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For CRO → risk flags are exactly what regulators watch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For CGO → protective factors identify safe customers to approve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For CFO → risk is concentrated in specific profiles,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     enabling targeted rules rather than blanket rejection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E86AB"/>
                </a:solidFill>
                <a:latin typeface="Calibri"/>
              </a:defRPr>
            </a:pPr>
            <a:r>
              <a:t>09  Post-Deployment Monitoring &amp; Threshold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047" y="1005840"/>
            <a:ext cx="10515600" cy="381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The threshold is a dynamic control lever — not a one-time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2743200" cy="4572000"/>
          </a:xfrm>
          <a:prstGeom prst="roundRect">
            <a:avLst/>
          </a:prstGeom>
          <a:solidFill>
            <a:srgbClr val="24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04F5F"/>
                </a:solidFill>
                <a:latin typeface="Calibri"/>
              </a:defRPr>
            </a:pPr>
            <a:r>
              <a:t>Default Rate Tracking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2377440" cy="25400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Monitor monthly default rate vs. ~3% baseline</a:t>
            </a:r>
            <a:br/>
            <a:br/>
            <a:r>
              <a:t>If default rate &gt; 3.5%:</a:t>
            </a:r>
            <a:br/>
            <a:r>
              <a:t>→ Shift threshold toward CRO (tighter)</a:t>
            </a:r>
            <a:br/>
            <a:br/>
            <a:r>
              <a:t>If default rate &lt; 2.5%:</a:t>
            </a:r>
            <a:br/>
            <a:r>
              <a:t>→ Consider relaxing toward CFO/CGO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828800"/>
            <a:ext cx="2743200" cy="4572000"/>
          </a:xfrm>
          <a:prstGeom prst="roundRect">
            <a:avLst/>
          </a:prstGeom>
          <a:solidFill>
            <a:srgbClr val="24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01E"/>
                </a:solidFill>
                <a:latin typeface="Calibri"/>
              </a:defRPr>
            </a:pPr>
            <a:r>
              <a:t>Cost Sensitivity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377440"/>
            <a:ext cx="2377440" cy="254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251460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Monitor changes in cost assumptions</a:t>
            </a:r>
            <a:br/>
            <a:br/>
            <a:r>
              <a:t>If regulatory penalties increase:</a:t>
            </a:r>
            <a:br/>
            <a:r>
              <a:t>→ Move threshold lower (more conservative)</a:t>
            </a:r>
            <a:br/>
            <a:br/>
            <a:r>
              <a:t>If customer lifetime value grows:</a:t>
            </a:r>
            <a:br/>
            <a:r>
              <a:t>→ Move threshold higher (more approvals)</a:t>
            </a:r>
            <a:br/>
            <a:br/>
            <a:r>
              <a:t>Re-evaluate quarterly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743200" cy="4572000"/>
          </a:xfrm>
          <a:prstGeom prst="roundRect">
            <a:avLst/>
          </a:prstGeom>
          <a:solidFill>
            <a:srgbClr val="24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7CBD"/>
                </a:solidFill>
                <a:latin typeface="Calibri"/>
              </a:defRPr>
            </a:pPr>
            <a:r>
              <a:t>Model Performance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377440"/>
            <a:ext cx="2377440" cy="254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51460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Track AUC and feature distributions monthly</a:t>
            </a:r>
            <a:br/>
            <a:br/>
            <a:r>
              <a:t>If AUC drops below 0.75:</a:t>
            </a:r>
            <a:br/>
            <a:r>
              <a:t>→ Retrain model on fresh data</a:t>
            </a:r>
            <a:br/>
            <a:br/>
            <a:r>
              <a:t>Monitor credit_score &amp; debt_to_income</a:t>
            </a:r>
            <a:br/>
            <a:r>
              <a:t>distributions for drift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828800"/>
            <a:ext cx="2743200" cy="4572000"/>
          </a:xfrm>
          <a:prstGeom prst="roundRect">
            <a:avLst/>
          </a:prstGeom>
          <a:solidFill>
            <a:srgbClr val="24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3544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936C"/>
                </a:solidFill>
                <a:latin typeface="Calibri"/>
              </a:defRPr>
            </a:pPr>
            <a:r>
              <a:t>Threshold Recalibration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0" y="2377440"/>
            <a:ext cx="2377440" cy="25400"/>
          </a:xfrm>
          <a:prstGeom prst="rect">
            <a:avLst/>
          </a:prstGeom>
          <a:solidFill>
            <a:srgbClr val="2D9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251460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CEO treats threshold as movable within</a:t>
            </a:r>
            <a:br/>
            <a:r>
              <a:t>the feasible range (≈ 0.01 – 0.14)</a:t>
            </a:r>
            <a:br/>
            <a:br/>
            <a:r>
              <a:t>Adjust based on:</a:t>
            </a:r>
            <a:br/>
            <a:r>
              <a:t>  • Current risk tolerance</a:t>
            </a:r>
            <a:br/>
            <a:r>
              <a:t>  • Regulatory pressure</a:t>
            </a:r>
            <a:br/>
            <a:r>
              <a:t>  • Growth targets</a:t>
            </a:r>
            <a:br/>
            <a:r>
              <a:t>  • Macroeconomic conditions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E86AB"/>
                </a:solidFill>
                <a:latin typeface="Calibri"/>
              </a:defRPr>
            </a:pPr>
            <a:r>
              <a:t>09  Decision Trigger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047" y="1005840"/>
            <a:ext cx="10515600" cy="381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B8D"/>
                </a:solidFill>
                <a:latin typeface="Calibri"/>
              </a:defRPr>
            </a:pPr>
            <a:r>
              <a:t>Connecting metrics to concrete actions: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Trigger Condition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Direction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Default rate rises above 3.5%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Tighten threshold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→ Move toward CRO (lower t)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Default rate drops below 2.5%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Consider relaxing threshold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→ Move toward CFO (higher t)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Profit declining but risk stable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Re-optimize for profit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→ Move toward CFO optimum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Loan approvals stagnating / growth down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Relax threshold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→ Move toward CGO (higher t)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Regulatory penalties increase by &gt;20%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Shift threshold left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→ More conservative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Customer lifetime value increases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Shift threshold right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→ More approvals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 AUC drops below 0.75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Retrain model entirely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→ New model + recalibrate</a:t>
                      </a:r>
                    </a:p>
                  </a:txBody>
                  <a:tcPr>
                    <a:solidFill>
                      <a:srgbClr val="243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Macro shift (recession, policy change)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Full threshold review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→ CEO convenes stakeholders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E86AB"/>
                </a:solidFill>
                <a:latin typeface="Calibri"/>
              </a:defRPr>
            </a:pPr>
            <a:r>
              <a:t>Summary &amp; 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047" y="1005840"/>
            <a:ext cx="10515600" cy="381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1. We built a transparent, calibrated Logistic Regression model (AUC = 0.823)</a:t>
            </a:r>
          </a:p>
          <a:p>
            <a:pPr>
              <a:spcAft>
                <a:spcPts val="3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 that separates defaulting from non-defaulting borrowers effectively.</a:t>
            </a:r>
          </a:p>
          <a:p>
            <a:pPr>
              <a:spcAft>
                <a:spcPts val="3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2. Three stakeholders have fundamentally different optimal thresholds:</a:t>
            </a:r>
          </a:p>
          <a:p>
            <a:pPr>
              <a:spcAft>
                <a:spcPts val="3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 • CRO: t = 0.01 (reject almost all risk → 47.6% approval, catches 96.8% of defaults)</a:t>
            </a:r>
          </a:p>
          <a:p>
            <a:pPr>
              <a:spcAft>
                <a:spcPts val="3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 • CFO: t = 0.14 (maximize profit → 95.4% approval, catches 29.0% of defaults)</a:t>
            </a:r>
          </a:p>
          <a:p>
            <a:pPr>
              <a:spcAft>
                <a:spcPts val="3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 • CGO: t = 0.65 (approve everyone → 100% approval, catches 0% of defaults)</a:t>
            </a:r>
          </a:p>
          <a:p>
            <a:pPr>
              <a:spcAft>
                <a:spcPts val="3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3. The threshold is not a fixed number — it is a dynamic control lever within a range</a:t>
            </a:r>
          </a:p>
          <a:p>
            <a:pPr>
              <a:spcAft>
                <a:spcPts val="3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 of defensible options (~0.01 to ~0.14). The CEO adjusts based on strategic priorities.</a:t>
            </a:r>
          </a:p>
          <a:p>
            <a:pPr>
              <a:spcAft>
                <a:spcPts val="3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4. "Cheap compromises" exist: moving from t=0.14 to t=0.12 costs the CFO only €6,900</a:t>
            </a:r>
          </a:p>
          <a:p>
            <a:pPr>
              <a:spcAft>
                <a:spcPts val="3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 but reduces risk exposure by €19,500 — high-value, low-cost middle ground.</a:t>
            </a:r>
          </a:p>
          <a:p>
            <a:pPr>
              <a:spcAft>
                <a:spcPts val="3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5. Post-deployment: monitor default rates, cost assumptions, and model performance.</a:t>
            </a:r>
          </a:p>
          <a:p>
            <a:pPr>
              <a:spcAft>
                <a:spcPts val="3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 Specific trigger rules (e.g., default &gt; 3.5% → tighten, AUC &lt; 0.75 → retrain)</a:t>
            </a:r>
          </a:p>
          <a:p>
            <a:pPr>
              <a:spcAft>
                <a:spcPts val="3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 keep the system adaptive and aligned with evolving bank strategy.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52647" y="2743200"/>
            <a:ext cx="5486400" cy="381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3352647" y="2743200"/>
            <a:ext cx="5486400" cy="381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B7B8D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E86AB"/>
                </a:solidFill>
                <a:latin typeface="Calibri"/>
              </a:defRPr>
            </a:pPr>
            <a:r>
              <a:t>Alexandros Panayi  ·  Maria Michaelidou  ·  Thanasis Kalos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2277</Words>
  <Application>Microsoft Office PowerPoint</Application>
  <PresentationFormat>Widescreen</PresentationFormat>
  <Paragraphs>387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Alexandros Panayi</cp:lastModifiedBy>
  <cp:revision>2</cp:revision>
  <dcterms:created xsi:type="dcterms:W3CDTF">2013-01-27T09:14:16Z</dcterms:created>
  <dcterms:modified xsi:type="dcterms:W3CDTF">2026-03-26T15:27:29Z</dcterms:modified>
  <cp:category/>
</cp:coreProperties>
</file>